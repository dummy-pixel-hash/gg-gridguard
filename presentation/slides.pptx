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Georgia"/>
              </a:defRPr>
            </a:pPr>
            <a:r>
              <a:t>GridGuard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Georgia"/>
              </a:defRPr>
            </a:pPr>
            <a:r>
              <a:t>AI-Powered Predictive Maintenance for Electrical Grids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108960"/>
            <a:ext cx="7619695" cy="64008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  <a:latin typeface="Verdana"/>
              </a:defRPr>
            </a:pPr>
            <a:r>
              <a:t>Prevent Failures. Prioritize Maintenance. Protect the Grid.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931920"/>
            <a:ext cx="23774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Verdana"/>
              </a:defRPr>
            </a:pPr>
            <a:r>
              <a:t>CATASTROPHIC RISK</a:t>
            </a:r>
          </a:p>
          <a:p>
            <a:pPr algn="ctr">
              <a:defRPr sz="1200">
                <a:solidFill>
                  <a:srgbClr val="F8FAFC"/>
                </a:solidFill>
                <a:latin typeface="Verdana"/>
              </a:defRPr>
            </a:pPr>
            <a:r>
              <a:t>$1M+ / Hour Blackout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4" y="3931920"/>
            <a:ext cx="23774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Verdana"/>
              </a:defRPr>
            </a:pPr>
            <a:r>
              <a:t>INTELLIGENCE ENGINE</a:t>
            </a:r>
          </a:p>
          <a:p>
            <a:pPr algn="ctr">
              <a:defRPr sz="1200">
                <a:solidFill>
                  <a:srgbClr val="F8FAFC"/>
                </a:solidFill>
                <a:latin typeface="Verdana"/>
              </a:defRPr>
            </a:pPr>
            <a:r>
              <a:t>0–100 Composite 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16368" y="3931920"/>
            <a:ext cx="23774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  <a:latin typeface="Verdana"/>
              </a:defRPr>
            </a:pPr>
            <a:r>
              <a:t>OPERATIONAL OUTCOME</a:t>
            </a:r>
          </a:p>
          <a:p>
            <a:pPr algn="ctr">
              <a:defRPr sz="1200">
                <a:solidFill>
                  <a:srgbClr val="F8FAFC"/>
                </a:solidFill>
                <a:latin typeface="Verdana"/>
              </a:defRPr>
            </a:pPr>
            <a:r>
              <a:t>Prioritized Crew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2064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  <a:latin typeface="Verdana"/>
              </a:defRPr>
            </a:pPr>
            <a:r>
              <a:t>Team: GG — GridGuard  |  Track: AI  | 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The Problem: Why Grid Maintenance Needs a Smarter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F97316"/>
                </a:solidFill>
                <a:latin typeface="Georgia"/>
              </a:defRPr>
            </a:pPr>
            <a:r>
              <a:t>01.  Silent Internal Deterioration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Verdana"/>
              </a:defRPr>
            </a:pPr>
            <a:r>
              <a:t>Power transformers and substation assets break down internally long before physical failure shows outwardly.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EF4444"/>
                </a:solidFill>
                <a:latin typeface="Georgia"/>
              </a:defRPr>
            </a:pPr>
            <a:r>
              <a:t>02.  Flawed Maintenance Models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Verdana"/>
              </a:defRPr>
            </a:pPr>
            <a:r>
              <a:t>Utilities rely on outdated calendar checks or reactive repairs after blackouts strike.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F59E0B"/>
                </a:solidFill>
                <a:latin typeface="Georgia"/>
              </a:defRPr>
            </a:pPr>
            <a:r>
              <a:t>03.  Control Room Data Overwhelm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Verdana"/>
              </a:defRPr>
            </a:pPr>
            <a:r>
              <a:t>Operators face fragmented streams across temperature, vibration, oil quality, and partial discharge.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384048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EF4444"/>
                </a:solidFill>
                <a:latin typeface="Georgia"/>
              </a:defRPr>
            </a:pPr>
            <a:r>
              <a:t>04.  Catastrophic Financial Impact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Verdana"/>
              </a:defRPr>
            </a:pPr>
            <a:r>
              <a:t>Unpredicted failures cause major outages, equipment destruction, and costs exceeding $1M+ per hour.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89320"/>
            <a:ext cx="10728655" cy="59436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Verdana"/>
              </a:defRPr>
            </a:pPr>
            <a:r>
              <a:t>CORE UTILITY NEED: Operators require an automated engine to answer — 'Which asset requires attention first?'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Our Solution: Introducing GridGuard Asset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 b="1">
                <a:solidFill>
                  <a:srgbClr val="38BDF8"/>
                </a:solidFill>
                <a:latin typeface="Verdana"/>
              </a:defRPr>
            </a:pPr>
            <a:r>
              <a:t>⚡ Sensor Telemetry (30%)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Temperature, vibration, partial discharge, oil quality (IEC normalized)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94360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 b="1">
                <a:solidFill>
                  <a:srgbClr val="F59E0B"/>
                </a:solidFill>
                <a:latin typeface="Verdana"/>
              </a:defRPr>
            </a:pPr>
            <a:r>
              <a:t>🌦️ Weather Stress (20%)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Open-Meteo severe weather, ambient heat, wind/storm severity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94360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 b="1">
                <a:solidFill>
                  <a:srgbClr val="A855F7"/>
                </a:solidFill>
                <a:latin typeface="Verdana"/>
              </a:defRPr>
            </a:pPr>
            <a:r>
              <a:t>📊 Historical Failures (15%)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Logged incident records, failure causes, event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594360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 b="1">
                <a:solidFill>
                  <a:srgbClr val="F97316"/>
                </a:solidFill>
                <a:latin typeface="Verdana"/>
              </a:defRPr>
            </a:pPr>
            <a:r>
              <a:t>🔧 Asset Degradation (15%)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Physical wear, lifecycle state machine (ACTIVE/FAULTED/RETIRED)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5943600" cy="80467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>
              <a:defRPr sz="1300" b="1">
                <a:solidFill>
                  <a:srgbClr val="10B981"/>
                </a:solidFill>
                <a:latin typeface="Verdana"/>
              </a:defRPr>
            </a:pPr>
            <a:r>
              <a:t>🔌 Grid Importance (20%)</a:t>
            </a:r>
          </a:p>
          <a:p>
            <a:pPr>
              <a:defRPr sz="1100">
                <a:solidFill>
                  <a:srgbClr val="F8FAFC"/>
                </a:solidFill>
                <a:latin typeface="Verdana"/>
              </a:defRPr>
            </a:pPr>
            <a:r>
              <a:t>Customers served, critical facilities, redundancy &amp; cascade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645920"/>
            <a:ext cx="4419295" cy="4462272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2000" b="1">
                <a:solidFill>
                  <a:srgbClr val="38BDF8"/>
                </a:solidFill>
                <a:latin typeface="Georgia"/>
              </a:defRPr>
            </a:pPr>
            <a:r>
              <a:t>COMPOSITE RISK ENGINE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8FAFC"/>
                </a:solidFill>
                <a:latin typeface="Verdana"/>
              </a:defRPr>
            </a:pPr>
            <a:r>
              <a:t>Deterministic 0–100 Score</a:t>
            </a:r>
          </a:p>
          <a:p>
            <a:pPr>
              <a:spcBef>
                <a:spcPts val="1000"/>
              </a:spcBef>
              <a:defRPr sz="1200" b="1">
                <a:solidFill>
                  <a:srgbClr val="10B981"/>
                </a:solidFill>
                <a:latin typeface="Verdana"/>
              </a:defRPr>
            </a:pPr>
            <a:r>
              <a:t>• NORMAL (0–39) → Routine monitoring</a:t>
            </a:r>
          </a:p>
          <a:p>
            <a:pPr>
              <a:spcBef>
                <a:spcPts val="1000"/>
              </a:spcBef>
              <a:defRPr sz="1200" b="1">
                <a:solidFill>
                  <a:srgbClr val="F59E0B"/>
                </a:solidFill>
                <a:latin typeface="Verdana"/>
              </a:defRPr>
            </a:pPr>
            <a:r>
              <a:t>• WATCH (40–69) → Schedule inspection</a:t>
            </a:r>
          </a:p>
          <a:p>
            <a:pPr>
              <a:spcBef>
                <a:spcPts val="1000"/>
              </a:spcBef>
              <a:defRPr sz="1200" b="1">
                <a:solidFill>
                  <a:srgbClr val="F97316"/>
                </a:solidFill>
                <a:latin typeface="Verdana"/>
              </a:defRPr>
            </a:pPr>
            <a:r>
              <a:t>• HIGH (70–84) → Prioritize maintenance</a:t>
            </a:r>
          </a:p>
          <a:p>
            <a:pPr>
              <a:spcBef>
                <a:spcPts val="1000"/>
              </a:spcBef>
              <a:defRPr sz="1200" b="1">
                <a:solidFill>
                  <a:srgbClr val="EF4444"/>
                </a:solidFill>
                <a:latin typeface="Verdana"/>
              </a:defRPr>
            </a:pPr>
            <a:r>
              <a:t>• CRITICAL (85–100) → Emergency crew dispatch</a:t>
            </a:r>
          </a:p>
          <a:p>
            <a:pPr>
              <a:spcBef>
                <a:spcPts val="1400"/>
              </a:spcBef>
              <a:defRPr sz="1100" b="1">
                <a:solidFill>
                  <a:srgbClr val="94A3B8"/>
                </a:solidFill>
                <a:latin typeface="Verdana"/>
              </a:defRPr>
            </a:pPr>
            <a:r>
              <a:t>Output: Ranked Maintenance Plan + Crew Pre-Positioning Alerts + Grounded AI Briefings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How GridGuard Works: End-to-End Processing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1. Data Ingestion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Telemetry, Weather, Incidents, Registry</a:t>
            </a:r>
          </a:p>
        </p:txBody>
      </p:sp>
      <p:sp>
        <p:nvSpPr>
          <p:cNvPr id="6" name="Chevron 5"/>
          <p:cNvSpPr/>
          <p:nvPr/>
        </p:nvSpPr>
        <p:spPr>
          <a:xfrm>
            <a:off x="2130552" y="3108960"/>
            <a:ext cx="109728" cy="45720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67712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2. Normalization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Converts units to 0-100 via IEC thresholds</a:t>
            </a:r>
          </a:p>
        </p:txBody>
      </p:sp>
      <p:sp>
        <p:nvSpPr>
          <p:cNvPr id="8" name="Chevron 7"/>
          <p:cNvSpPr/>
          <p:nvPr/>
        </p:nvSpPr>
        <p:spPr>
          <a:xfrm>
            <a:off x="3666744" y="3108960"/>
            <a:ext cx="109728" cy="457200"/>
          </a:xfrm>
          <a:prstGeom prst="chevron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03904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F59E0B"/>
                </a:solidFill>
                <a:latin typeface="Verdana"/>
              </a:defRPr>
            </a:pPr>
            <a:r>
              <a:t>3. Risk Engine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Deterministic 5-factor weighted calculation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5202936" y="3108960"/>
            <a:ext cx="109728" cy="45720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40096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F97316"/>
                </a:solidFill>
                <a:latin typeface="Verdana"/>
              </a:defRPr>
            </a:pPr>
            <a:r>
              <a:t>4. 0–100 Scoring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Auditable score in 4 bands</a:t>
            </a:r>
          </a:p>
        </p:txBody>
      </p:sp>
      <p:sp>
        <p:nvSpPr>
          <p:cNvPr id="12" name="Chevron 11"/>
          <p:cNvSpPr/>
          <p:nvPr/>
        </p:nvSpPr>
        <p:spPr>
          <a:xfrm>
            <a:off x="6739128" y="3108960"/>
            <a:ext cx="109728" cy="457200"/>
          </a:xfrm>
          <a:prstGeom prst="chevro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76288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EF4444"/>
                </a:solidFill>
                <a:latin typeface="Verdana"/>
              </a:defRPr>
            </a:pPr>
            <a:r>
              <a:t>5. Prioritization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Ranks assets by risk &amp; grid impact</a:t>
            </a:r>
          </a:p>
        </p:txBody>
      </p:sp>
      <p:sp>
        <p:nvSpPr>
          <p:cNvPr id="14" name="Chevron 13"/>
          <p:cNvSpPr/>
          <p:nvPr/>
        </p:nvSpPr>
        <p:spPr>
          <a:xfrm>
            <a:off x="8275320" y="3108960"/>
            <a:ext cx="109728" cy="457200"/>
          </a:xfrm>
          <a:prstGeom prst="chevr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A855F7"/>
                </a:solidFill>
                <a:latin typeface="Verdana"/>
              </a:defRPr>
            </a:pPr>
            <a:r>
              <a:t>6. AI Briefing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Grounded explanations via JSON context</a:t>
            </a:r>
          </a:p>
        </p:txBody>
      </p:sp>
      <p:sp>
        <p:nvSpPr>
          <p:cNvPr id="16" name="Chevron 15"/>
          <p:cNvSpPr/>
          <p:nvPr/>
        </p:nvSpPr>
        <p:spPr>
          <a:xfrm>
            <a:off x="9811512" y="3108960"/>
            <a:ext cx="109728" cy="457200"/>
          </a:xfrm>
          <a:prstGeom prst="chevr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948672" y="1645920"/>
            <a:ext cx="137160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10B981"/>
                </a:solidFill>
                <a:latin typeface="Verdana"/>
              </a:defRPr>
            </a:pPr>
            <a:r>
              <a:t>7. Operator UI</a:t>
            </a:r>
          </a:p>
          <a:p>
            <a:pPr algn="ctr">
              <a:spcBef>
                <a:spcPts val="12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Control-room view &amp; AI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  <a:latin typeface="Georgia"/>
              </a:defRPr>
            </a:pPr>
            <a:r>
              <a:t>OPERATIONAL LOOP:   DETECT  →  PRIORITIZE  →  EXPLAIN  →  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Intelligent Risk Scoring: 5 Weighted Input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38BDF8"/>
                </a:solidFill>
                <a:latin typeface="Georgia"/>
              </a:defRPr>
            </a:pPr>
            <a:r>
              <a:t>Deterministic Weight Breakdown</a:t>
            </a:r>
          </a:p>
          <a:p>
            <a:pPr>
              <a:spcBef>
                <a:spcPts val="800"/>
              </a:spcBef>
              <a:defRPr sz="1100">
                <a:solidFill>
                  <a:srgbClr val="38BDF8"/>
                </a:solidFill>
                <a:latin typeface="Verdana"/>
              </a:defRPr>
            </a:pPr>
            <a:r>
              <a:t>• Sensor Health (30%): Temp, vibration, oil quality, partial discharge</a:t>
            </a:r>
          </a:p>
          <a:p>
            <a:pPr>
              <a:spcBef>
                <a:spcPts val="800"/>
              </a:spcBef>
              <a:defRPr sz="1100">
                <a:solidFill>
                  <a:srgbClr val="F59E0B"/>
                </a:solidFill>
                <a:latin typeface="Verdana"/>
              </a:defRPr>
            </a:pPr>
            <a:r>
              <a:t>• Weather Risk (20%): Open-Meteo heat stress, rain, wind/storm</a:t>
            </a:r>
          </a:p>
          <a:p>
            <a:pPr>
              <a:spcBef>
                <a:spcPts val="800"/>
              </a:spcBef>
              <a:defRPr sz="1100">
                <a:solidFill>
                  <a:srgbClr val="A855F7"/>
                </a:solidFill>
                <a:latin typeface="Verdana"/>
              </a:defRPr>
            </a:pPr>
            <a:r>
              <a:t>• Historical Failures (15%): Logged incident frequency &amp; fault causes</a:t>
            </a:r>
          </a:p>
          <a:p>
            <a:pPr>
              <a:spcBef>
                <a:spcPts val="800"/>
              </a:spcBef>
              <a:defRPr sz="1100">
                <a:solidFill>
                  <a:srgbClr val="F97316"/>
                </a:solidFill>
                <a:latin typeface="Verdana"/>
              </a:defRPr>
            </a:pPr>
            <a:r>
              <a:t>• Asset Degradation (15%): Physical wear &amp; lifecycle state machine</a:t>
            </a:r>
          </a:p>
          <a:p>
            <a:pPr>
              <a:spcBef>
                <a:spcPts val="800"/>
              </a:spcBef>
              <a:defRPr sz="1100">
                <a:solidFill>
                  <a:srgbClr val="10B981"/>
                </a:solidFill>
                <a:latin typeface="Verdana"/>
              </a:defRPr>
            </a:pPr>
            <a:r>
              <a:t>• Grid Impact (20%): Customers served &amp; critical facility feeds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1645920"/>
            <a:ext cx="493776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F59E0B"/>
                </a:solidFill>
                <a:latin typeface="Georgia"/>
              </a:defRPr>
            </a:pPr>
            <a:r>
              <a:t>0–100 Risk Score Action Bands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Verdana"/>
              </a:defRPr>
            </a:pPr>
            <a:r>
              <a:t>NORMAL (0–39)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Routine monitoring — asset operating within nominal parameters.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Verdana"/>
              </a:defRPr>
            </a:pPr>
            <a:r>
              <a:t>WATCH (40–69)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Schedule inspection — early degradation or weather stress detected.</a:t>
            </a:r>
          </a:p>
          <a:p>
            <a:pPr>
              <a:spcBef>
                <a:spcPts val="800"/>
              </a:spcBef>
              <a:defRPr sz="1200" b="1">
                <a:solidFill>
                  <a:srgbClr val="F97316"/>
                </a:solidFill>
                <a:latin typeface="Verdana"/>
              </a:defRPr>
            </a:pPr>
            <a:r>
              <a:t>HIGH (70–84)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Prioritize maintenance — multiple compounding stress factors present.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Verdana"/>
              </a:defRPr>
            </a:pPr>
            <a:r>
              <a:t>CRITICAL (85–100)</a:t>
            </a:r>
          </a:p>
          <a:p>
            <a:pPr>
              <a:defRPr sz="1000">
                <a:solidFill>
                  <a:srgbClr val="F8FAFC"/>
                </a:solidFill>
                <a:latin typeface="Verdana"/>
              </a:defRPr>
            </a:pPr>
            <a:r>
              <a:t>Emergency intervention — high failure likelihood + critical grid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Control-Room Dashboard &amp; Grounded AI Briefing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38BDF8"/>
                </a:solidFill>
                <a:latin typeface="Georgia"/>
              </a:defRPr>
            </a:pPr>
            <a:r>
              <a:t>Operator Dashboard Capabilities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Real-time fleet-wide risk overview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Risk-ranked asset priority list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Detailed asset health &amp; sensor metrics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Localized Open-Meteo weather context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Historical incident &amp; lifecycle records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  <a:latin typeface="Verdana"/>
              </a:defRPr>
            </a:pPr>
            <a:r>
              <a:t>✓  Recommended crew pre-positioning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6655" y="1645920"/>
            <a:ext cx="5303520" cy="4480560"/>
          </a:xfrm>
          <a:prstGeom prst="roundRect">
            <a:avLst/>
          </a:prstGeom>
          <a:solidFill>
            <a:srgbClr val="131E33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A855F7"/>
                </a:solidFill>
                <a:latin typeface="Georgia"/>
              </a:defRPr>
            </a:pPr>
            <a:r>
              <a:t>Grounded Conversational AI Briefing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  <a:latin typeface="Verdana"/>
              </a:defRPr>
            </a:pPr>
            <a:r>
              <a:t>RULE: The LLM NEVER calculates risk scores — it receives structured context JSON pre-computed by the deterministic engine.</a:t>
            </a:r>
          </a:p>
          <a:p>
            <a:pPr>
              <a:spcBef>
                <a:spcPts val="600"/>
              </a:spcBef>
              <a:defRPr sz="1000">
                <a:solidFill>
                  <a:srgbClr val="38BDF8"/>
                </a:solidFill>
                <a:latin typeface="Verdana"/>
              </a:defRPr>
            </a:pPr>
            <a:r>
              <a:t>User: What's wrong with TX-007?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AI: TX-007 is Critical at 94.9. Main driver is weather risk (100/100) — severe storm inbound + 3 prior weather failures. Inspect today.</a:t>
            </a:r>
          </a:p>
          <a:p>
            <a:pPr>
              <a:spcBef>
                <a:spcPts val="600"/>
              </a:spcBef>
              <a:defRPr sz="1000">
                <a:solidFill>
                  <a:srgbClr val="38BDF8"/>
                </a:solidFill>
                <a:latin typeface="Verdana"/>
              </a:defRPr>
            </a:pPr>
            <a:r>
              <a:t>User: What action should we take?</a:t>
            </a:r>
          </a:p>
          <a:p>
            <a:pPr>
              <a:spcBef>
                <a:spcPts val="600"/>
              </a:spcBef>
              <a:defRPr sz="1000">
                <a:solidFill>
                  <a:srgbClr val="10B981"/>
                </a:solidFill>
                <a:latin typeface="Verdana"/>
              </a:defRPr>
            </a:pPr>
            <a:r>
              <a:t>AI: Pre-position a crew staged at Substation 4 before the storm front arrives.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What Makes GridGuard Different? From Prediction to Prioritization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EF4444"/>
                </a:solidFill>
                <a:latin typeface="Georgia"/>
              </a:defRPr>
            </a:pPr>
            <a:r>
              <a:t>TRADITIONAL MONITORING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Generic alert: 'Parameter out of bounds'</a:t>
            </a:r>
            <a:br/>
            <a:r>
              <a:t>• Manual data hunting across isolated tools</a:t>
            </a:r>
            <a:br/>
            <a:r>
              <a:t>• No grid impact context or crew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400" b="1">
                <a:solidFill>
                  <a:srgbClr val="10B981"/>
                </a:solidFill>
                <a:latin typeface="Georgia"/>
              </a:defRPr>
            </a:pPr>
            <a:r>
              <a:t>GRIDGUARD DECISION PATH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Clear path: High Risk → Dominant Factor → Grid Priority → Action</a:t>
            </a:r>
            <a:br/>
            <a:r>
              <a:t>• Instant natural-language AI explanations</a:t>
            </a:r>
            <a:br/>
            <a:r>
              <a:t>• Direct crew pre-positioning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🎯 Risk-Based Maintenance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Replaces rigid calendar schedules with dynamic risk evaluations.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3750" y="34747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⚡ Earlier Detection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Identifies subtle internal deterioration weeks before physical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6895" y="34747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📊 Data-Driven Prioritization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Evaluates failure probability alongside critical grid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🤖 AI-Assisted Explanations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Combines deterministic scoring with grounded LLM briefings.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3750" y="48463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🌦️ Weather-Aware Assessment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Integrates live Open-Meteo forecasts to compound risk factors.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895" y="484632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200" b="1">
                <a:solidFill>
                  <a:srgbClr val="38BDF8"/>
                </a:solidFill>
                <a:latin typeface="Verdana"/>
              </a:defRPr>
            </a:pPr>
            <a:r>
              <a:t>👷 Smarter Crew Allocation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  <a:latin typeface="Verdana"/>
              </a:defRPr>
            </a:pPr>
            <a:r>
              <a:t>Pre-positions maintenance teams where outages hurt most.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Verdana"/>
              </a:defRPr>
            </a:pPr>
            <a:r>
              <a:t>GRIDGUARD // AI GRID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Georgia"/>
              </a:defRPr>
            </a:pPr>
            <a:r>
              <a:t>Real-World Impact &amp; Future Product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10B981"/>
                </a:solidFill>
                <a:latin typeface="Georgia"/>
              </a:defRPr>
            </a:pPr>
            <a:r>
              <a:t>Quantifiable Utility Impact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Avoid catastrophic outages costing $1M+/hr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Shift utility ops from reactive to proactive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Optimize limited maintenance budgets &amp; crews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Eliminate unnecessary routine inspections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Improve storm response &amp; crew staging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• Grounded, auditable control room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9535" y="1645920"/>
            <a:ext cx="512064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800" b="1">
                <a:solidFill>
                  <a:srgbClr val="38BDF8"/>
                </a:solidFill>
                <a:latin typeface="Georgia"/>
              </a:defRPr>
            </a:pPr>
            <a:r>
              <a:t>Future Product Scope &amp; Roadmap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📡 Live Utility SCADA / IoT integration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🧠 Advanced ML models on historical utility datasets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📲 Mobile alerts &amp; field tech mobile app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🔄 Automated work-order system integration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🌐 Digital-twin based load &amp; failure simulation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📈 Continuous learning from operational failure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28016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  <a:latin typeface="Georgia"/>
              </a:defRPr>
            </a:pPr>
            <a:r>
              <a:t>GridGuard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534095" cy="6858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0B981"/>
                </a:solidFill>
                <a:latin typeface="Verdana"/>
              </a:defRPr>
            </a:pPr>
            <a:r>
              <a:t>Predict before you react. Prioritize before you repair.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30175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Verdana"/>
              </a:defRPr>
            </a:pPr>
            <a:r>
              <a:t>1. RISK</a:t>
            </a:r>
          </a:p>
          <a:p>
            <a:pPr algn="ctr">
              <a:spcBef>
                <a:spcPts val="6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0-100 Composite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30175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A855F7"/>
                </a:solidFill>
                <a:latin typeface="Verdana"/>
              </a:defRPr>
            </a:pPr>
            <a:r>
              <a:t>2. INSIGHT</a:t>
            </a:r>
          </a:p>
          <a:p>
            <a:pPr algn="ctr">
              <a:spcBef>
                <a:spcPts val="6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Grounded AI Briefings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0175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Verdana"/>
              </a:defRPr>
            </a:pPr>
            <a:r>
              <a:t>3. PRIORITY</a:t>
            </a:r>
          </a:p>
          <a:p>
            <a:pPr algn="ctr">
              <a:spcBef>
                <a:spcPts val="6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Grid Impact 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01752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  <a:latin typeface="Verdana"/>
              </a:defRPr>
            </a:pPr>
            <a:r>
              <a:t>4. ACTION</a:t>
            </a:r>
          </a:p>
          <a:p>
            <a:pPr algn="ctr">
              <a:spcBef>
                <a:spcPts val="600"/>
              </a:spcBef>
              <a:defRPr sz="1100">
                <a:solidFill>
                  <a:srgbClr val="F8FAFC"/>
                </a:solidFill>
                <a:latin typeface="Verdana"/>
              </a:defRPr>
            </a:pPr>
            <a:r>
              <a:t>Crew Pre-Positioning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572000"/>
            <a:ext cx="8534095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8FAFC"/>
                </a:solidFill>
                <a:latin typeface="Verdana"/>
              </a:defRPr>
            </a:pPr>
            <a:r>
              <a:t>MISSION: Transform electrical grid maintenance from reactive firefighting into a proactive, intelligent, and data-driven 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